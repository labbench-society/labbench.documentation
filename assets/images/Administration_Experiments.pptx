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4"/>
  </p:notesMasterIdLst>
  <p:sldIdLst>
    <p:sldId id="256" r:id="rId5"/>
    <p:sldId id="257" r:id="rId6"/>
    <p:sldId id="258" r:id="rId7"/>
    <p:sldId id="259" r:id="rId8"/>
    <p:sldId id="260" r:id="rId9"/>
    <p:sldId id="263" r:id="rId10"/>
    <p:sldId id="261" r:id="rId11"/>
    <p:sldId id="262" r:id="rId12"/>
    <p:sldId id="264" r:id="rId13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>
        <p:scale>
          <a:sx n="125" d="100"/>
          <a:sy n="125" d="100"/>
        </p:scale>
        <p:origin x="-3714" y="-3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26/02/2026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shows the LabBench Designer software interface, featuring a protocol for studying the correlation between Depression, Anxiety, Stress, and response inhibition using the DASS scale.&#10;&#10;AI-generated content may be incorrect.">
            <a:extLst>
              <a:ext uri="{FF2B5EF4-FFF2-40B4-BE49-F238E27FC236}">
                <a16:creationId xmlns:a16="http://schemas.microsoft.com/office/drawing/2014/main" id="{DF0063AD-29A5-0EB6-D0B1-E694FF643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805" y="6020010"/>
            <a:ext cx="5400000" cy="2360192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340F7FB0-320C-1BBD-CBCB-33EA0F5ABA51}"/>
              </a:ext>
            </a:extLst>
          </p:cNvPr>
          <p:cNvSpPr/>
          <p:nvPr/>
        </p:nvSpPr>
        <p:spPr>
          <a:xfrm>
            <a:off x="12617450" y="6248400"/>
            <a:ext cx="180000" cy="180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E4C72E-56FF-D993-69AC-B15D183C423E}"/>
              </a:ext>
            </a:extLst>
          </p:cNvPr>
          <p:cNvSpPr/>
          <p:nvPr/>
        </p:nvSpPr>
        <p:spPr>
          <a:xfrm>
            <a:off x="7861300" y="6134100"/>
            <a:ext cx="1911350" cy="22461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1E6CB0-1753-A195-293F-76CE5C9E1CC7}"/>
              </a:ext>
            </a:extLst>
          </p:cNvPr>
          <p:cNvSpPr/>
          <p:nvPr/>
        </p:nvSpPr>
        <p:spPr>
          <a:xfrm>
            <a:off x="9803606" y="6134100"/>
            <a:ext cx="3011044" cy="22461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059583-8CE5-D54E-7148-945A802CD1D0}"/>
              </a:ext>
            </a:extLst>
          </p:cNvPr>
          <p:cNvSpPr/>
          <p:nvPr/>
        </p:nvSpPr>
        <p:spPr>
          <a:xfrm>
            <a:off x="9803606" y="6330950"/>
            <a:ext cx="457200" cy="20492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F63C78-035E-11D2-2F03-11D4FFF9FB25}"/>
              </a:ext>
            </a:extLst>
          </p:cNvPr>
          <p:cNvSpPr txBox="1"/>
          <p:nvPr/>
        </p:nvSpPr>
        <p:spPr>
          <a:xfrm>
            <a:off x="7784128" y="5359505"/>
            <a:ext cx="2065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List of experiments</a:t>
            </a:r>
            <a:endParaRPr lang="en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83DE7A-B435-A1C4-774F-6A395BDE9F2F}"/>
              </a:ext>
            </a:extLst>
          </p:cNvPr>
          <p:cNvSpPr txBox="1"/>
          <p:nvPr/>
        </p:nvSpPr>
        <p:spPr>
          <a:xfrm>
            <a:off x="9178318" y="8577052"/>
            <a:ext cx="1707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Panel selection</a:t>
            </a:r>
            <a:endParaRPr lang="en-DK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3D1FFF-BEBC-7DAD-FE17-E3CFB3CD6614}"/>
              </a:ext>
            </a:extLst>
          </p:cNvPr>
          <p:cNvSpPr txBox="1"/>
          <p:nvPr/>
        </p:nvSpPr>
        <p:spPr>
          <a:xfrm>
            <a:off x="10385542" y="5359505"/>
            <a:ext cx="1847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Experiment Page</a:t>
            </a:r>
            <a:endParaRPr lang="en-DK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F1C7CA-15A6-42B2-1DC2-AE70C055D84F}"/>
              </a:ext>
            </a:extLst>
          </p:cNvPr>
          <p:cNvSpPr txBox="1"/>
          <p:nvPr/>
        </p:nvSpPr>
        <p:spPr>
          <a:xfrm>
            <a:off x="13074650" y="6153734"/>
            <a:ext cx="2013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Delete experiment</a:t>
            </a:r>
            <a:endParaRPr lang="en-DK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7CB0F5D-59D1-A195-AFC8-BA5389883D23}"/>
              </a:ext>
            </a:extLst>
          </p:cNvPr>
          <p:cNvCxnSpPr>
            <a:stCxn id="8" idx="2"/>
            <a:endCxn id="5" idx="0"/>
          </p:cNvCxnSpPr>
          <p:nvPr/>
        </p:nvCxnSpPr>
        <p:spPr>
          <a:xfrm>
            <a:off x="8816975" y="5728837"/>
            <a:ext cx="0" cy="40526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85756A-9B0E-DBA7-A30F-96C6C05170CA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flipV="1">
            <a:off x="10032206" y="8380202"/>
            <a:ext cx="0" cy="19685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330592C-7097-AFE7-8D46-208B72532F29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2797450" y="6338400"/>
            <a:ext cx="2772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688D85F-9C33-4E52-D5F6-D9E9B7BB4AE1}"/>
              </a:ext>
            </a:extLst>
          </p:cNvPr>
          <p:cNvCxnSpPr>
            <a:cxnSpLocks/>
            <a:stCxn id="10" idx="2"/>
            <a:endCxn id="6" idx="0"/>
          </p:cNvCxnSpPr>
          <p:nvPr/>
        </p:nvCxnSpPr>
        <p:spPr>
          <a:xfrm>
            <a:off x="11309128" y="5728837"/>
            <a:ext cx="0" cy="40526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image displays a LabBench protocol setup for studying the correlation between depression, anxiety, and stress using the DASS scale, and response inhibition with the Stop-Signal Task.&#10;&#10;AI-generated content may be incorrect.">
            <a:extLst>
              <a:ext uri="{FF2B5EF4-FFF2-40B4-BE49-F238E27FC236}">
                <a16:creationId xmlns:a16="http://schemas.microsoft.com/office/drawing/2014/main" id="{801D8AA3-6539-406C-EB81-3D658DBEC7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330"/>
          <a:stretch>
            <a:fillRect/>
          </a:stretch>
        </p:blipFill>
        <p:spPr>
          <a:xfrm>
            <a:off x="7387324" y="6147935"/>
            <a:ext cx="5400000" cy="310020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539A082-DE34-87C2-8AEE-FF66AA9511DA}"/>
              </a:ext>
            </a:extLst>
          </p:cNvPr>
          <p:cNvSpPr/>
          <p:nvPr/>
        </p:nvSpPr>
        <p:spPr>
          <a:xfrm>
            <a:off x="8202168" y="6454140"/>
            <a:ext cx="1885156" cy="241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596019-A031-4F16-A352-E07B3626E1A0}"/>
              </a:ext>
            </a:extLst>
          </p:cNvPr>
          <p:cNvSpPr txBox="1"/>
          <p:nvPr/>
        </p:nvSpPr>
        <p:spPr>
          <a:xfrm>
            <a:off x="7925918" y="5625501"/>
            <a:ext cx="2437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 and view controls</a:t>
            </a:r>
            <a:endParaRPr lang="en-DK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FBBA6A6-0C1F-E501-E4EE-3E65E1D9794D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9144746" y="5994833"/>
            <a:ext cx="0" cy="45930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685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isplays a user interface for a LabBench system, featuring sections for participant ID input, protocol setup, data, investigator roles, and options for LabBench I/O and display functionalities, along with a post-session action to export data to a CSV file.&#10;&#10;AI-generated content may be incorrect.">
            <a:extLst>
              <a:ext uri="{FF2B5EF4-FFF2-40B4-BE49-F238E27FC236}">
                <a16:creationId xmlns:a16="http://schemas.microsoft.com/office/drawing/2014/main" id="{25252F4B-C743-95E9-6147-D23297C8B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556" y="3392664"/>
            <a:ext cx="5400000" cy="606521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117CACF-4302-F450-14A7-35679634ABF5}"/>
              </a:ext>
            </a:extLst>
          </p:cNvPr>
          <p:cNvSpPr/>
          <p:nvPr/>
        </p:nvSpPr>
        <p:spPr>
          <a:xfrm>
            <a:off x="12979400" y="4117366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4CD6AB-79B1-D694-0C34-E4A2BA3E7C89}"/>
              </a:ext>
            </a:extLst>
          </p:cNvPr>
          <p:cNvSpPr/>
          <p:nvPr/>
        </p:nvSpPr>
        <p:spPr>
          <a:xfrm>
            <a:off x="12979400" y="5082536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403844-C2ED-605D-AB35-4924B85196CC}"/>
              </a:ext>
            </a:extLst>
          </p:cNvPr>
          <p:cNvSpPr/>
          <p:nvPr/>
        </p:nvSpPr>
        <p:spPr>
          <a:xfrm>
            <a:off x="12975300" y="6037056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9E845C-D64B-B587-5F6D-315D8C17B475}"/>
              </a:ext>
            </a:extLst>
          </p:cNvPr>
          <p:cNvSpPr/>
          <p:nvPr/>
        </p:nvSpPr>
        <p:spPr>
          <a:xfrm>
            <a:off x="12624000" y="8682740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7537E0D-F78B-9AA6-71A5-FD1848939068}"/>
              </a:ext>
            </a:extLst>
          </p:cNvPr>
          <p:cNvSpPr/>
          <p:nvPr/>
        </p:nvSpPr>
        <p:spPr>
          <a:xfrm>
            <a:off x="12945800" y="8682740"/>
            <a:ext cx="288000" cy="288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67C4D9E-121B-83DC-05D3-721565FCABFE}"/>
              </a:ext>
            </a:extLst>
          </p:cNvPr>
          <p:cNvSpPr/>
          <p:nvPr/>
        </p:nvSpPr>
        <p:spPr>
          <a:xfrm>
            <a:off x="13002970" y="6582648"/>
            <a:ext cx="232660" cy="2326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19BF603-2B5E-767B-2D09-8A3250C6412B}"/>
              </a:ext>
            </a:extLst>
          </p:cNvPr>
          <p:cNvSpPr/>
          <p:nvPr/>
        </p:nvSpPr>
        <p:spPr>
          <a:xfrm>
            <a:off x="12849224" y="5462423"/>
            <a:ext cx="384575" cy="23742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6DB9D-6653-1238-E4BF-C2D52BC1A0CF}"/>
              </a:ext>
            </a:extLst>
          </p:cNvPr>
          <p:cNvSpPr txBox="1"/>
          <p:nvPr/>
        </p:nvSpPr>
        <p:spPr>
          <a:xfrm>
            <a:off x="13830300" y="4076700"/>
            <a:ext cx="3317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Configure participant validation</a:t>
            </a:r>
            <a:endParaRPr lang="en-DK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F4273A-6D1C-C7DD-969A-A5C7D3CA00E4}"/>
              </a:ext>
            </a:extLst>
          </p:cNvPr>
          <p:cNvSpPr txBox="1"/>
          <p:nvPr/>
        </p:nvSpPr>
        <p:spPr>
          <a:xfrm>
            <a:off x="13830300" y="5041870"/>
            <a:ext cx="1701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researcher</a:t>
            </a:r>
            <a:endParaRPr lang="en-DK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266C6D-6999-9D61-361F-A23444CE6919}"/>
              </a:ext>
            </a:extLst>
          </p:cNvPr>
          <p:cNvSpPr txBox="1"/>
          <p:nvPr/>
        </p:nvSpPr>
        <p:spPr>
          <a:xfrm>
            <a:off x="13830300" y="5396468"/>
            <a:ext cx="2111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Remove researcher</a:t>
            </a:r>
            <a:endParaRPr lang="en-DK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92C0E-702E-DBA9-9F3F-0C46269C1244}"/>
              </a:ext>
            </a:extLst>
          </p:cNvPr>
          <p:cNvSpPr txBox="1"/>
          <p:nvPr/>
        </p:nvSpPr>
        <p:spPr>
          <a:xfrm>
            <a:off x="13830300" y="5996390"/>
            <a:ext cx="1654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devices</a:t>
            </a:r>
            <a:endParaRPr lang="en-DK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4D909D-626A-0B01-FA3D-532066267861}"/>
              </a:ext>
            </a:extLst>
          </p:cNvPr>
          <p:cNvSpPr txBox="1"/>
          <p:nvPr/>
        </p:nvSpPr>
        <p:spPr>
          <a:xfrm>
            <a:off x="13830300" y="6514312"/>
            <a:ext cx="185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Configure device</a:t>
            </a:r>
            <a:endParaRPr lang="en-DK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9E0241-FE3F-5EF6-E70B-6FFCC7A0F91E}"/>
              </a:ext>
            </a:extLst>
          </p:cNvPr>
          <p:cNvSpPr txBox="1"/>
          <p:nvPr/>
        </p:nvSpPr>
        <p:spPr>
          <a:xfrm>
            <a:off x="13830300" y="8642074"/>
            <a:ext cx="2155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 output directory</a:t>
            </a:r>
            <a:endParaRPr lang="en-DK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80D129-C1B6-6C6A-47D8-EB5016C82A70}"/>
              </a:ext>
            </a:extLst>
          </p:cNvPr>
          <p:cNvSpPr txBox="1"/>
          <p:nvPr/>
        </p:nvSpPr>
        <p:spPr>
          <a:xfrm>
            <a:off x="11175160" y="9676848"/>
            <a:ext cx="3185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Rerun all post-session actions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724604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shows a LabBench interface with tabs labeled Protocol, Setup, Data, and includes options to Create and Export.&#10;&#10;AI-generated content may be incorrect.">
            <a:extLst>
              <a:ext uri="{FF2B5EF4-FFF2-40B4-BE49-F238E27FC236}">
                <a16:creationId xmlns:a16="http://schemas.microsoft.com/office/drawing/2014/main" id="{FBC0DBC4-8B0C-276E-900B-FE9465494D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5193"/>
          <a:stretch>
            <a:fillRect/>
          </a:stretch>
        </p:blipFill>
        <p:spPr>
          <a:xfrm>
            <a:off x="8100556" y="8128000"/>
            <a:ext cx="5400000" cy="898081"/>
          </a:xfrm>
          <a:prstGeom prst="rect">
            <a:avLst/>
          </a:prstGeom>
        </p:spPr>
      </p:pic>
      <p:pic>
        <p:nvPicPr>
          <p:cNvPr id="4" name="Picture 3" descr="The image shows a LabBench interface with tabs labeled Protocol, Setup, Data, and includes options to Create and Export.&#10;&#10;AI-generated content may be incorrect.">
            <a:extLst>
              <a:ext uri="{FF2B5EF4-FFF2-40B4-BE49-F238E27FC236}">
                <a16:creationId xmlns:a16="http://schemas.microsoft.com/office/drawing/2014/main" id="{6AF11513-F0FC-3FEF-5ADC-A365124FB8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288"/>
          <a:stretch>
            <a:fillRect/>
          </a:stretch>
        </p:blipFill>
        <p:spPr>
          <a:xfrm>
            <a:off x="8100556" y="5577065"/>
            <a:ext cx="5400000" cy="2893836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90556F4-DD56-8F56-7064-DFC6ED0985EE}"/>
              </a:ext>
            </a:extLst>
          </p:cNvPr>
          <p:cNvSpPr/>
          <p:nvPr/>
        </p:nvSpPr>
        <p:spPr>
          <a:xfrm>
            <a:off x="11560174" y="8616950"/>
            <a:ext cx="860426" cy="28257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FB9C210-A407-7B85-B1D9-D9FE3518587E}"/>
              </a:ext>
            </a:extLst>
          </p:cNvPr>
          <p:cNvSpPr/>
          <p:nvPr/>
        </p:nvSpPr>
        <p:spPr>
          <a:xfrm>
            <a:off x="12514490" y="8613553"/>
            <a:ext cx="860426" cy="28257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63B407D-9243-C763-8BB4-D46C48BA6D70}"/>
              </a:ext>
            </a:extLst>
          </p:cNvPr>
          <p:cNvSpPr/>
          <p:nvPr/>
        </p:nvSpPr>
        <p:spPr>
          <a:xfrm>
            <a:off x="12968288" y="6293333"/>
            <a:ext cx="342900" cy="22176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29960-A54F-C203-2693-8C09FF3955FF}"/>
              </a:ext>
            </a:extLst>
          </p:cNvPr>
          <p:cNvSpPr txBox="1"/>
          <p:nvPr/>
        </p:nvSpPr>
        <p:spPr>
          <a:xfrm>
            <a:off x="13872210" y="6219550"/>
            <a:ext cx="1980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Delete participant</a:t>
            </a:r>
            <a:endParaRPr lang="en-DK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50436A-C656-54B2-9DB4-0F2A2FCBE614}"/>
              </a:ext>
            </a:extLst>
          </p:cNvPr>
          <p:cNvSpPr txBox="1"/>
          <p:nvPr/>
        </p:nvSpPr>
        <p:spPr>
          <a:xfrm>
            <a:off x="13872210" y="8570174"/>
            <a:ext cx="1319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Export data</a:t>
            </a:r>
            <a:endParaRPr lang="en-DK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3BA7D-B987-BDE9-8A6F-80AB20F84096}"/>
              </a:ext>
            </a:extLst>
          </p:cNvPr>
          <p:cNvSpPr txBox="1"/>
          <p:nvPr/>
        </p:nvSpPr>
        <p:spPr>
          <a:xfrm>
            <a:off x="10992325" y="9296400"/>
            <a:ext cx="1996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 participant</a:t>
            </a:r>
            <a:endParaRPr lang="en-DK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B8EDB39-62F0-3B6D-7D92-413BA118299B}"/>
              </a:ext>
            </a:extLst>
          </p:cNvPr>
          <p:cNvCxnSpPr>
            <a:stCxn id="9" idx="1"/>
            <a:endCxn id="8" idx="3"/>
          </p:cNvCxnSpPr>
          <p:nvPr/>
        </p:nvCxnSpPr>
        <p:spPr>
          <a:xfrm flipH="1">
            <a:off x="13311188" y="6404216"/>
            <a:ext cx="561022" cy="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BF4133-4ECA-F7F0-C080-3B7C6336970F}"/>
              </a:ext>
            </a:extLst>
          </p:cNvPr>
          <p:cNvCxnSpPr>
            <a:cxnSpLocks/>
            <a:stCxn id="10" idx="1"/>
            <a:endCxn id="7" idx="3"/>
          </p:cNvCxnSpPr>
          <p:nvPr/>
        </p:nvCxnSpPr>
        <p:spPr>
          <a:xfrm flipH="1">
            <a:off x="13374916" y="8754840"/>
            <a:ext cx="497294" cy="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98D38E-D9DC-10AB-E828-1C675EA5C5C9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1990387" y="8896128"/>
            <a:ext cx="0" cy="40027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186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ession ID&#10;&#10;AI-generated content may be incorrect.">
            <a:extLst>
              <a:ext uri="{FF2B5EF4-FFF2-40B4-BE49-F238E27FC236}">
                <a16:creationId xmlns:a16="http://schemas.microsoft.com/office/drawing/2014/main" id="{E29318D1-A123-54C8-D842-2C011160E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761" y="6299868"/>
            <a:ext cx="7449590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948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shows a user interface with tabs labeled 'ID' and 'Investigator,' and options to 'Cancel' and 'Add,' with text content suggesting the removal of a character 'Ronch' from a document.&#10;&#10;AI-generated content may be incorrect.">
            <a:extLst>
              <a:ext uri="{FF2B5EF4-FFF2-40B4-BE49-F238E27FC236}">
                <a16:creationId xmlns:a16="http://schemas.microsoft.com/office/drawing/2014/main" id="{0444A8A3-F1B8-F18B-4FD6-B9FEB8F897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5" b="2627"/>
          <a:stretch>
            <a:fillRect/>
          </a:stretch>
        </p:blipFill>
        <p:spPr>
          <a:xfrm>
            <a:off x="8519000" y="5394960"/>
            <a:ext cx="4563112" cy="3093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224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OK&#10;&#10;AI-generated content may be incorrect.">
            <a:extLst>
              <a:ext uri="{FF2B5EF4-FFF2-40B4-BE49-F238E27FC236}">
                <a16:creationId xmlns:a16="http://schemas.microsoft.com/office/drawing/2014/main" id="{8CC79426-57DC-591A-D1A0-DE0FEC626D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70"/>
          <a:stretch>
            <a:fillRect/>
          </a:stretch>
        </p:blipFill>
        <p:spPr>
          <a:xfrm>
            <a:off x="8990554" y="5438775"/>
            <a:ext cx="3620005" cy="361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345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isplays a LabBench I/O interface screen with a positive logic system, showing a low byte of 5.0V and a high byte that is unconnected.&#10;&#10;AI-generated content may be incorrect.">
            <a:extLst>
              <a:ext uri="{FF2B5EF4-FFF2-40B4-BE49-F238E27FC236}">
                <a16:creationId xmlns:a16="http://schemas.microsoft.com/office/drawing/2014/main" id="{E7C841BB-39CA-A0E2-5374-91D3A59EE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968"/>
          <a:stretch>
            <a:fillRect/>
          </a:stretch>
        </p:blipFill>
        <p:spPr>
          <a:xfrm>
            <a:off x="9195370" y="5847367"/>
            <a:ext cx="3210373" cy="259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677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shows a joystick interface with various buttons, a questionnaire section, a label input field, and numeric buttons for navigation.&#10;&#10;AI-generated content may be incorrect.">
            <a:extLst>
              <a:ext uri="{FF2B5EF4-FFF2-40B4-BE49-F238E27FC236}">
                <a16:creationId xmlns:a16="http://schemas.microsoft.com/office/drawing/2014/main" id="{C6A7807E-6AE4-8B8E-32E1-785E9F6917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95"/>
          <a:stretch>
            <a:fillRect/>
          </a:stretch>
        </p:blipFill>
        <p:spPr>
          <a:xfrm>
            <a:off x="8752395" y="4483099"/>
            <a:ext cx="4096322" cy="551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658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customXml/itemProps3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</TotalTime>
  <Words>39</Words>
  <Application>Microsoft Office PowerPoint</Application>
  <PresentationFormat>Custom</PresentationFormat>
  <Paragraphs>17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30</cp:revision>
  <dcterms:created xsi:type="dcterms:W3CDTF">2024-11-30T15:01:51Z</dcterms:created>
  <dcterms:modified xsi:type="dcterms:W3CDTF">2026-02-26T10:25:22Z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