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sldIdLst>
    <p:sldId id="256" r:id="rId5"/>
    <p:sldId id="257" r:id="rId6"/>
    <p:sldId id="258" r:id="rId7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150" d="100"/>
          <a:sy n="150" d="100"/>
        </p:scale>
        <p:origin x="-5298" y="-2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LabBench I/O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3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LabBench Protocol Repository interface, featuring various protocols for psychometric and psychophysical studies, including tasks on depression, anxiety, stress, cuff pressure, and response inhibition.&#10;&#10;AI-generated content may be incorrect.">
            <a:extLst>
              <a:ext uri="{FF2B5EF4-FFF2-40B4-BE49-F238E27FC236}">
                <a16:creationId xmlns:a16="http://schemas.microsoft.com/office/drawing/2014/main" id="{717AEE05-5C7C-97EC-CEBA-26200DA6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556" y="5296630"/>
            <a:ext cx="5400000" cy="251162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6BB98A6-D86A-E3E6-9C55-09C28B0F6797}"/>
              </a:ext>
            </a:extLst>
          </p:cNvPr>
          <p:cNvSpPr/>
          <p:nvPr/>
        </p:nvSpPr>
        <p:spPr>
          <a:xfrm>
            <a:off x="13077240" y="5520690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C033B2-4203-13DA-7370-87D0D5B4F5D0}"/>
              </a:ext>
            </a:extLst>
          </p:cNvPr>
          <p:cNvSpPr/>
          <p:nvPr/>
        </p:nvSpPr>
        <p:spPr>
          <a:xfrm>
            <a:off x="13260120" y="5520690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69EDEA-F976-F015-8E0B-96AA282C4F86}"/>
              </a:ext>
            </a:extLst>
          </p:cNvPr>
          <p:cNvSpPr/>
          <p:nvPr/>
        </p:nvSpPr>
        <p:spPr>
          <a:xfrm>
            <a:off x="10212120" y="5520690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3E3E7-BF2C-410F-3C28-629BFB39DEDE}"/>
              </a:ext>
            </a:extLst>
          </p:cNvPr>
          <p:cNvSpPr/>
          <p:nvPr/>
        </p:nvSpPr>
        <p:spPr>
          <a:xfrm>
            <a:off x="8503920" y="5410200"/>
            <a:ext cx="1888200" cy="2398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CE4B0A-C22E-CA39-4F74-88D2D734243B}"/>
              </a:ext>
            </a:extLst>
          </p:cNvPr>
          <p:cNvSpPr/>
          <p:nvPr/>
        </p:nvSpPr>
        <p:spPr>
          <a:xfrm>
            <a:off x="10465304" y="5433060"/>
            <a:ext cx="2974816" cy="237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AEDAF-60E0-6C4C-6AD8-9A31802D7C75}"/>
              </a:ext>
            </a:extLst>
          </p:cNvPr>
          <p:cNvSpPr txBox="1"/>
          <p:nvPr/>
        </p:nvSpPr>
        <p:spPr>
          <a:xfrm>
            <a:off x="8440789" y="8108668"/>
            <a:ext cx="2014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 of repositories</a:t>
            </a:r>
            <a:endParaRPr lang="en-D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5AD95-A40F-0134-1C27-50304F5AA878}"/>
              </a:ext>
            </a:extLst>
          </p:cNvPr>
          <p:cNvSpPr txBox="1"/>
          <p:nvPr/>
        </p:nvSpPr>
        <p:spPr>
          <a:xfrm>
            <a:off x="9107434" y="4773477"/>
            <a:ext cx="2389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Configure repositories</a:t>
            </a:r>
            <a:endParaRPr lang="en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74991-EFCA-1B29-9BC5-F9875150BAAF}"/>
              </a:ext>
            </a:extLst>
          </p:cNvPr>
          <p:cNvSpPr txBox="1"/>
          <p:nvPr/>
        </p:nvSpPr>
        <p:spPr>
          <a:xfrm>
            <a:off x="10894762" y="8108668"/>
            <a:ext cx="2115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Selected repository</a:t>
            </a:r>
            <a:endParaRPr lang="en-D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8A010B-C9F3-5014-ACF9-A669CD2AAA2B}"/>
              </a:ext>
            </a:extLst>
          </p:cNvPr>
          <p:cNvSpPr txBox="1"/>
          <p:nvPr/>
        </p:nvSpPr>
        <p:spPr>
          <a:xfrm>
            <a:off x="12281965" y="4773477"/>
            <a:ext cx="17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Reload protocol</a:t>
            </a:r>
            <a:endParaRPr lang="en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49E6AB-7707-8E1F-9150-F66CD22081B7}"/>
              </a:ext>
            </a:extLst>
          </p:cNvPr>
          <p:cNvSpPr txBox="1"/>
          <p:nvPr/>
        </p:nvSpPr>
        <p:spPr>
          <a:xfrm>
            <a:off x="13693020" y="5426024"/>
            <a:ext cx="2029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experiment</a:t>
            </a:r>
            <a:endParaRPr lang="en-DK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D700F71-8E99-8143-8946-1DD6816BF5B8}"/>
              </a:ext>
            </a:extLst>
          </p:cNvPr>
          <p:cNvCxnSpPr>
            <a:stCxn id="11" idx="2"/>
            <a:endCxn id="6" idx="0"/>
          </p:cNvCxnSpPr>
          <p:nvPr/>
        </p:nvCxnSpPr>
        <p:spPr>
          <a:xfrm>
            <a:off x="10302120" y="5142809"/>
            <a:ext cx="0" cy="3778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7F1F4B-23F0-0BF1-680B-C4A56FBA6379}"/>
              </a:ext>
            </a:extLst>
          </p:cNvPr>
          <p:cNvCxnSpPr>
            <a:cxnSpLocks/>
            <a:stCxn id="13" idx="2"/>
            <a:endCxn id="4" idx="0"/>
          </p:cNvCxnSpPr>
          <p:nvPr/>
        </p:nvCxnSpPr>
        <p:spPr>
          <a:xfrm>
            <a:off x="13167240" y="5142809"/>
            <a:ext cx="0" cy="3778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B3BB37-9380-15BC-E751-F2D4B1FA969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13440120" y="5610690"/>
            <a:ext cx="252900" cy="38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F39EA-93F4-AD11-B4D7-505BE0A9E084}"/>
              </a:ext>
            </a:extLst>
          </p:cNvPr>
          <p:cNvCxnSpPr>
            <a:cxnSpLocks/>
            <a:stCxn id="10" idx="0"/>
            <a:endCxn id="7" idx="2"/>
          </p:cNvCxnSpPr>
          <p:nvPr/>
        </p:nvCxnSpPr>
        <p:spPr>
          <a:xfrm flipV="1">
            <a:off x="9448020" y="7808258"/>
            <a:ext cx="0" cy="3004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9C0CFD-9ED5-536E-C1E0-AFA41698C133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flipV="1">
            <a:off x="11952712" y="7809060"/>
            <a:ext cx="0" cy="2996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The image shows a user interface for managing a repository on Labbench.io, with an input field for adding a new file or URL.&#10;&#10;AI-generated content may be incorrect.">
            <a:extLst>
              <a:ext uri="{FF2B5EF4-FFF2-40B4-BE49-F238E27FC236}">
                <a16:creationId xmlns:a16="http://schemas.microsoft.com/office/drawing/2014/main" id="{0F4901A9-98B4-6BA1-0A11-987F2B0D8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9" t="60657" r="424" b="561"/>
          <a:stretch>
            <a:fillRect/>
          </a:stretch>
        </p:blipFill>
        <p:spPr>
          <a:xfrm>
            <a:off x="8927306" y="3778580"/>
            <a:ext cx="3536157" cy="1102520"/>
          </a:xfrm>
          <a:prstGeom prst="rect">
            <a:avLst/>
          </a:prstGeom>
        </p:spPr>
      </p:pic>
      <p:pic>
        <p:nvPicPr>
          <p:cNvPr id="3" name="Picture 2" descr="The image shows a user interface for managing a repository on Labbench.io, with an input field for adding a new file or URL.&#10;&#10;AI-generated content may be incorrect.">
            <a:extLst>
              <a:ext uri="{FF2B5EF4-FFF2-40B4-BE49-F238E27FC236}">
                <a16:creationId xmlns:a16="http://schemas.microsoft.com/office/drawing/2014/main" id="{73655F92-62CC-EB37-1AAC-3E3862C7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9" r="424" b="67487"/>
          <a:stretch>
            <a:fillRect/>
          </a:stretch>
        </p:blipFill>
        <p:spPr>
          <a:xfrm>
            <a:off x="8927306" y="3571516"/>
            <a:ext cx="3536157" cy="92428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DE19F8-88C5-D514-AE4A-C33E47E9D164}"/>
              </a:ext>
            </a:extLst>
          </p:cNvPr>
          <p:cNvSpPr/>
          <p:nvPr/>
        </p:nvSpPr>
        <p:spPr>
          <a:xfrm>
            <a:off x="11906250" y="3835400"/>
            <a:ext cx="222250" cy="14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0381DC-4BF2-F9D1-D2BB-DC3A2D9095D4}"/>
              </a:ext>
            </a:extLst>
          </p:cNvPr>
          <p:cNvSpPr/>
          <p:nvPr/>
        </p:nvSpPr>
        <p:spPr>
          <a:xfrm>
            <a:off x="12163425" y="3835400"/>
            <a:ext cx="222250" cy="14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D1834-B0E3-FC03-3846-4B4B0C37DDF6}"/>
              </a:ext>
            </a:extLst>
          </p:cNvPr>
          <p:cNvSpPr txBox="1"/>
          <p:nvPr/>
        </p:nvSpPr>
        <p:spPr>
          <a:xfrm>
            <a:off x="11129247" y="3012326"/>
            <a:ext cx="1776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location</a:t>
            </a:r>
            <a:endParaRPr lang="en-D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B89E4-4B0B-0CD5-FA49-995556A69C59}"/>
              </a:ext>
            </a:extLst>
          </p:cNvPr>
          <p:cNvSpPr txBox="1"/>
          <p:nvPr/>
        </p:nvSpPr>
        <p:spPr>
          <a:xfrm>
            <a:off x="12801600" y="3722734"/>
            <a:ext cx="20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Remove repository</a:t>
            </a:r>
            <a:endParaRPr lang="en-DK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B124B7-5ADD-9F90-AFE0-B862D188CCE2}"/>
              </a:ext>
            </a:extLst>
          </p:cNvPr>
          <p:cNvCxnSpPr>
            <a:stCxn id="9" idx="2"/>
            <a:endCxn id="4" idx="0"/>
          </p:cNvCxnSpPr>
          <p:nvPr/>
        </p:nvCxnSpPr>
        <p:spPr>
          <a:xfrm>
            <a:off x="12017375" y="3381658"/>
            <a:ext cx="0" cy="453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2103A6-52C9-056A-CA2A-B980FE4C417A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>
          <a:xfrm flipH="1">
            <a:off x="12385675" y="3907400"/>
            <a:ext cx="4159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08F471-881E-40CB-47A7-D222C8B79256}"/>
              </a:ext>
            </a:extLst>
          </p:cNvPr>
          <p:cNvSpPr/>
          <p:nvPr/>
        </p:nvSpPr>
        <p:spPr>
          <a:xfrm>
            <a:off x="12134849" y="4578350"/>
            <a:ext cx="334963" cy="14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6D0C3D-0FA2-BCB3-D8C2-BC6ACF97D4E6}"/>
              </a:ext>
            </a:extLst>
          </p:cNvPr>
          <p:cNvSpPr/>
          <p:nvPr/>
        </p:nvSpPr>
        <p:spPr>
          <a:xfrm>
            <a:off x="12138024" y="4732735"/>
            <a:ext cx="334963" cy="14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0B5972-7C1A-6921-B1B3-70F6351BACAF}"/>
              </a:ext>
            </a:extLst>
          </p:cNvPr>
          <p:cNvSpPr txBox="1"/>
          <p:nvPr/>
        </p:nvSpPr>
        <p:spPr>
          <a:xfrm>
            <a:off x="12801600" y="4465684"/>
            <a:ext cx="1631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repository</a:t>
            </a:r>
            <a:endParaRPr lang="en-D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D1223-F6F1-5380-6C88-7362283ECEC7}"/>
              </a:ext>
            </a:extLst>
          </p:cNvPr>
          <p:cNvSpPr txBox="1"/>
          <p:nvPr/>
        </p:nvSpPr>
        <p:spPr>
          <a:xfrm>
            <a:off x="11593642" y="50989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 dialog</a:t>
            </a:r>
            <a:endParaRPr lang="en-DK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DDB2B8-9DBF-CA34-FF5F-A8164BBB3E14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flipV="1">
            <a:off x="12302330" y="4876735"/>
            <a:ext cx="3176" cy="2221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866BD7-541C-D1A2-801E-3FF99947A317}"/>
              </a:ext>
            </a:extLst>
          </p:cNvPr>
          <p:cNvCxnSpPr>
            <a:cxnSpLocks/>
            <a:stCxn id="11" idx="1"/>
            <a:endCxn id="6" idx="3"/>
          </p:cNvCxnSpPr>
          <p:nvPr/>
        </p:nvCxnSpPr>
        <p:spPr>
          <a:xfrm flipH="1">
            <a:off x="12469812" y="4650350"/>
            <a:ext cx="33178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F6FC21-84A8-AB38-A5F4-8549D5CC7596}"/>
              </a:ext>
            </a:extLst>
          </p:cNvPr>
          <p:cNvSpPr/>
          <p:nvPr/>
        </p:nvSpPr>
        <p:spPr>
          <a:xfrm>
            <a:off x="8908256" y="4572000"/>
            <a:ext cx="3198019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AFC5A9-C559-40F4-A3BC-535E10AC22BA}"/>
              </a:ext>
            </a:extLst>
          </p:cNvPr>
          <p:cNvSpPr txBox="1"/>
          <p:nvPr/>
        </p:nvSpPr>
        <p:spPr>
          <a:xfrm>
            <a:off x="7479467" y="4488934"/>
            <a:ext cx="1052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Location</a:t>
            </a:r>
            <a:endParaRPr lang="en-DK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DB800B-A2F6-1A8D-E7CD-A6D21B088899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>
            <a:off x="8531743" y="4673600"/>
            <a:ext cx="37651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47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depicts a user interface with a LabBench experiment creation setup, including input fields for ID, intro, and store experiment options, and a cancel button.&#10;&#10;AI-generated content may be incorrect.">
            <a:extLst>
              <a:ext uri="{FF2B5EF4-FFF2-40B4-BE49-F238E27FC236}">
                <a16:creationId xmlns:a16="http://schemas.microsoft.com/office/drawing/2014/main" id="{E98066E4-638E-0555-4DAD-C119516E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34"/>
          <a:stretch>
            <a:fillRect/>
          </a:stretch>
        </p:blipFill>
        <p:spPr>
          <a:xfrm>
            <a:off x="8977855" y="4117011"/>
            <a:ext cx="2236246" cy="146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5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3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27</Words>
  <Application>Microsoft Office PowerPoint</Application>
  <PresentationFormat>Custom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21</cp:revision>
  <dcterms:created xsi:type="dcterms:W3CDTF">2024-11-30T15:01:51Z</dcterms:created>
  <dcterms:modified xsi:type="dcterms:W3CDTF">2026-02-26T08:55:13Z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